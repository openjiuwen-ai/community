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EBEBA-E528-4FAE-BE33-4BA9ECD0BE49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F69A5-864A-4B9A-828B-07E61DB48D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7" b="11081"/>
          <a:stretch>
            <a:fillRect/>
          </a:stretch>
        </p:blipFill>
        <p:spPr>
          <a:xfrm>
            <a:off x="0" y="731519"/>
            <a:ext cx="12192000" cy="536658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6700" y="2396357"/>
            <a:ext cx="6629400" cy="1674857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66700" y="4761189"/>
            <a:ext cx="4488180" cy="79931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7" y="1843091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516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559" y="630376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80"/>
            </a:lvl4pPr>
            <a:lvl5pPr marL="2372995" indent="0" algn="ctr">
              <a:buNone/>
              <a:defRPr sz="2080"/>
            </a:lvl5pPr>
            <a:lvl6pPr marL="2966085" indent="0" algn="ctr">
              <a:buNone/>
              <a:defRPr sz="2080"/>
            </a:lvl6pPr>
            <a:lvl7pPr marL="3559175" indent="0" algn="ctr">
              <a:buNone/>
              <a:defRPr sz="2080"/>
            </a:lvl7pPr>
            <a:lvl8pPr marL="4151630" indent="0" algn="ctr">
              <a:buNone/>
              <a:defRPr sz="2080"/>
            </a:lvl8pPr>
            <a:lvl9pPr marL="474535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93"/>
            <a:ext cx="10729364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586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2pPr>
            <a:lvl3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3pPr>
            <a:lvl4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6906" y="2856476"/>
            <a:ext cx="3919502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 fontAlgn="auto">
              <a:spcBef>
                <a:spcPts val="0"/>
              </a:spcBef>
              <a:spcAft>
                <a:spcPts val="0"/>
              </a:spcAft>
            </a:pPr>
            <a:r>
              <a:rPr lang="en-US" sz="4800" b="1" dirty="0">
                <a:solidFill>
                  <a:srgbClr val="175CFE"/>
                </a:solidFill>
                <a:latin typeface="Arial" panose="020B0604020202020204"/>
                <a:ea typeface="+mn-ea"/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733845" y="6526023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33" y="6477212"/>
            <a:ext cx="252000" cy="25200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216" y="6483431"/>
            <a:ext cx="888325" cy="19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081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135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507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26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6662"/>
            <a:ext cx="12192000" cy="208467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2479" y="2386662"/>
            <a:ext cx="3982676" cy="20846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sldNum="0" hdr="0" ftr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0905" y="1002985"/>
            <a:ext cx="8833757" cy="1674857"/>
          </a:xfrm>
        </p:spPr>
        <p:txBody>
          <a:bodyPr/>
          <a:lstStyle/>
          <a:p>
            <a:r>
              <a:rPr lang="en-US" altLang="zh-CN" b="0" i="0" dirty="0" err="1">
                <a:solidFill>
                  <a:srgbClr val="000000"/>
                </a:solidFill>
                <a:effectLst/>
                <a:latin typeface="HarmonyOS Sans"/>
              </a:rPr>
              <a:t>openJiuwen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armonyOS Sans"/>
              </a:rPr>
              <a:t>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armonyOS Sans"/>
              </a:rPr>
              <a:t>实践案例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armonyOS Sans"/>
              </a:rPr>
              <a:t>-XX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armonyOS Sans"/>
              </a:rPr>
              <a:t>学校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armonyOS Sans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armonyOS Sans"/>
              </a:rPr>
              <a:t>企业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armonyOS Sans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armonyOS Sans"/>
              </a:rPr>
              <a:t>个人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armonyOS Sans"/>
              </a:rPr>
              <a:t>-XX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armonyOS Sans"/>
              </a:rPr>
              <a:t>项目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33217" y="1843091"/>
            <a:ext cx="10507754" cy="3013725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HarmonyOS Sans"/>
              </a:rPr>
              <a:t>项目基础信息：企业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armonyOS Sans"/>
              </a:rPr>
              <a:t>/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armonyOS Sans"/>
              </a:rPr>
              <a:t>团队简介、所属行业、应用场景、项目上线时间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HarmonyOS Sans"/>
              </a:rPr>
              <a:t>业务痛点：原有系统存在的开发、运维、性能、成本等核心问题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 err="1">
                <a:solidFill>
                  <a:srgbClr val="000000"/>
                </a:solidFill>
                <a:effectLst/>
                <a:latin typeface="HarmonyOS Sans"/>
              </a:rPr>
              <a:t>openJiuwen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armonyOS Sans"/>
              </a:rPr>
              <a:t>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armonyOS Sans"/>
              </a:rPr>
              <a:t>落地方案：选型原因、技术架构、核心模块调用、改造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armonyOS Sans"/>
              </a:rPr>
              <a:t>/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armonyOS Sans"/>
              </a:rPr>
              <a:t>开发流程等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HarmonyOS Sans"/>
              </a:rPr>
              <a:t>实施难点与解决方案：落地过程中遇到的技术问题、优化思路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HarmonyOS Sans"/>
              </a:rPr>
              <a:t>落地成效：量化数据（效率提升、成本下降、并发承载、运维人力缩减</a:t>
            </a:r>
            <a:r>
              <a:rPr lang="zh-CN" altLang="en-US" b="0" i="0">
                <a:solidFill>
                  <a:srgbClr val="000000"/>
                </a:solidFill>
                <a:effectLst/>
                <a:latin typeface="HarmonyOS Sans"/>
              </a:rPr>
              <a:t>等）</a:t>
            </a:r>
            <a:endParaRPr lang="zh-CN" altLang="en-US" b="0" i="0" dirty="0">
              <a:solidFill>
                <a:srgbClr val="000000"/>
              </a:solidFill>
              <a:effectLst/>
              <a:latin typeface="HarmonyOS Sans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HarmonyOS Sans"/>
              </a:rPr>
              <a:t>经验总结：开发实践心得、适配优化技巧、后续拓展规划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120</Words>
  <Application>Microsoft Office PowerPoint</Application>
  <PresentationFormat>宽屏</PresentationFormat>
  <Paragraphs>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HarmonyOS Sans</vt:lpstr>
      <vt:lpstr>等线</vt:lpstr>
      <vt:lpstr>微软雅黑</vt:lpstr>
      <vt:lpstr>Arial</vt:lpstr>
      <vt:lpstr>Office 主题​​</vt:lpstr>
      <vt:lpstr>6_章节页</vt:lpstr>
      <vt:lpstr>End page</vt:lpstr>
      <vt:lpstr>openJiuwen 实践案例 -XX学校/企业/个人-XX项目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openJiuwen xxxx</dc:title>
  <dc:creator>zhangmingyang (A)</dc:creator>
  <cp:lastModifiedBy>cuihuating</cp:lastModifiedBy>
  <cp:revision>5</cp:revision>
  <dcterms:created xsi:type="dcterms:W3CDTF">2026-04-09T09:34:01Z</dcterms:created>
  <dcterms:modified xsi:type="dcterms:W3CDTF">2026-07-16T07:33:16Z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